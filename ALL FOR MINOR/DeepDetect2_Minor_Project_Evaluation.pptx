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  <a:latin typeface="Segoe UI"/>
              </a:defRPr>
            </a:pPr>
            <a:r>
              <a:t>DEEPFAKE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Multimodal Audio-Visual Deepfake Detection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Minor Project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188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 err="1"/>
              <a:t>B.Tech</a:t>
            </a:r>
            <a:r>
              <a:rPr dirty="0"/>
              <a:t> in Computer Science and Engineering</a:t>
            </a:r>
          </a:p>
          <a:p>
            <a:pPr algn="ctr">
              <a:spcAft>
                <a:spcPts val="320"/>
              </a:spcAft>
              <a:defRPr sz="800" b="0">
                <a:solidFill>
                  <a:srgbClr val="CCCCCC"/>
                </a:solidFill>
                <a:latin typeface="Segoe UI"/>
              </a:defRPr>
            </a:pPr>
            <a:endParaRPr dirty="0"/>
          </a:p>
          <a:p>
            <a:pPr algn="ctr">
              <a:spcAft>
                <a:spcPts val="72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Sankalp (12311001)     |     Madhur Suman (12311002)</a:t>
            </a:r>
          </a:p>
          <a:p>
            <a:pPr algn="ctr">
              <a:spcAft>
                <a:spcPts val="320"/>
              </a:spcAft>
              <a:defRPr sz="800" b="0">
                <a:solidFill>
                  <a:srgbClr val="CCCCCC"/>
                </a:solidFill>
                <a:latin typeface="Segoe UI"/>
              </a:defRPr>
            </a:pPr>
            <a:endParaRPr dirty="0"/>
          </a:p>
          <a:p>
            <a:pPr algn="ctr">
              <a:spcAft>
                <a:spcPts val="640"/>
              </a:spcAft>
              <a:defRPr sz="16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Supervised by: Dr. Md. </a:t>
            </a:r>
            <a:r>
              <a:rPr dirty="0" err="1"/>
              <a:t>Arquam</a:t>
            </a:r>
            <a:r>
              <a:rPr dirty="0"/>
              <a:t> (Assistant Professor)</a:t>
            </a:r>
          </a:p>
          <a:p>
            <a:pPr algn="ctr">
              <a:spcAft>
                <a:spcPts val="320"/>
              </a:spcAft>
              <a:defRPr sz="800" b="0">
                <a:solidFill>
                  <a:srgbClr val="CCCCCC"/>
                </a:solidFill>
                <a:latin typeface="Segoe UI"/>
              </a:defRPr>
            </a:pPr>
            <a:endParaRPr dirty="0"/>
          </a:p>
          <a:p>
            <a:pPr algn="ctr">
              <a:spcAft>
                <a:spcPts val="640"/>
              </a:spcAft>
              <a:defRPr sz="16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Indian Institute of Information Technology, Sonepat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605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05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84832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1356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35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15184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6659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659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Architecture &amp; Model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45535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196335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9633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Self-Supervised Pretraining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675888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37266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266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Fine-Tuning &amp; 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206240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257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57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Results &amp;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736591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478739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78739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Tech Stack &amp;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266943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531774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31774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Limitations &amp; Future Scope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97296"/>
            <a:ext cx="9601200" cy="438912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8480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8480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Modern deepfakes are increasingly convincing visually, but often contain subtle audio-visual inconsistencies.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Lip Sync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Mouth movements don't match speech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29184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Audio Splicing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Real audio + fake video misalignment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60320"/>
            <a:ext cx="329184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Temporal Glitches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Unnatural frame transitions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Key Challenges: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•  Most existing detectors rely only on visual analysis and miss audio cues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•  Lack of large, high-quality labelled deepfake 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•  Visual-only methods fail to generalize to new generation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•  Computational cost limits real-world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3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1.  Cross-Modal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440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Analyse both video and audio streams together to catch subtle mismatches like lip sync errors and spliced audio using a Multimodal Bottleneck Transformer.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73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2.  Self-Supervised Representation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784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Pretrain on unlabelled VoxCeleb videos using contrastive learning, synchronization prediction, and masked reconstruction to address data scarcity.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08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3.  Practical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312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Achieve competitive accuracy, precision, recall, and F1 on FakeAVCeleb while keeping the system efficient for consumer GPUs (NVIDIA T4+).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242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4.  Modular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473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Design clean, swappable components (visual encoder, audio encoder, fusion engine, classifier) so each can be upgraded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Two-Phase Pipeline: Self-Supervised Pretraining + Supervised Fine-Tuning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011680" cy="731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Video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16 frames, 224x224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194560" cy="731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ViT-B/16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(B, 16, 768)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2011680" cy="731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Audio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842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128-bin Mel Spectrogram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383280"/>
            <a:ext cx="2194560" cy="731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CNN Encoder (4L)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490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(B, T_a, 768)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3774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94560"/>
            <a:ext cx="2743200" cy="1920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Multimodal 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Transformer (MBT)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4 layers | 4 bottleneck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8 attention heads | 0.1 dropout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468880"/>
            <a:ext cx="219456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MLP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1536 → 512 → 256 →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GELU + Dropout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45955"/>
              </p:ext>
            </p:extLst>
          </p:nvPr>
        </p:nvGraphicFramePr>
        <p:xfrm>
          <a:off x="731520" y="4580238"/>
          <a:ext cx="10698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Output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Visual Encoder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ViT-B/16 + Temporal Pos. Embeddings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(B, 16, 768)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Audio Encoder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4-layer CNN → 768-dim projection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(B, T_a, 768)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Fusion Engine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4-layer MBT, 4 bottleneck tokens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(B, 768) per mod.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Classifier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3-layer MLP (GELU, Dropout)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Binary logit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PHASE 1: SELF-SUPERVISED PRETRAINING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1148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Pretrained on VoxCeleb (real celebrity videos) — No fake labels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3108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BFF"/>
                </a:solidFill>
                <a:latin typeface="Segoe UI"/>
              </a:defRPr>
            </a:pPr>
            <a:r>
              <a:t>Contrastive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MoCo-style momentum encoder (m=0.999)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2048-sample memory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Temperature τ = 0.07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InfoNCE loss, weight =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Variance regularization (w=0.1)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03120"/>
            <a:ext cx="3474720" cy="3108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19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76"/>
                </a:solidFill>
                <a:latin typeface="Segoe UI"/>
              </a:defRPr>
            </a:pPr>
            <a:r>
              <a:t>AV Sync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Binary: synced vs desynced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50% synced, 50% desynced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30% cross-sample audio swap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70% temporal shift (15–40 frames)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Cross-entropy loss, weight = 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2103120"/>
            <a:ext cx="3474720" cy="3108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9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9F43"/>
                </a:solidFill>
                <a:latin typeface="Segoe UI"/>
              </a:defRPr>
            </a:pPr>
            <a:r>
              <a:t>Masked Reconstruction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Visual: 85% mask, block size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Audio: 80% mask, block size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Smooth L1 reconstruction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Audio weight =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Visual weight = 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Training: 50 epochs | Batch 8 (x4 accumulation = 32 effective) | AdamW lr=1e-4 | Mixed Precision (FP16) | Grad clip 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PHASE 2: SUPERVISED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Fine-tuned on FakeAVCeleb for binary classification (Real vs Fake)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rPr dirty="0" err="1"/>
              <a:t>FakeAVCeleb</a:t>
            </a:r>
            <a:r>
              <a:rPr dirty="0"/>
              <a:t> — real and fake videos with R</a:t>
            </a:r>
            <a:r>
              <a:rPr lang="en-IN" dirty="0"/>
              <a:t>V</a:t>
            </a:r>
            <a:r>
              <a:rPr dirty="0"/>
              <a:t>RA/F</a:t>
            </a:r>
            <a:r>
              <a:rPr lang="en-IN" dirty="0"/>
              <a:t>V</a:t>
            </a:r>
            <a:r>
              <a:rPr dirty="0"/>
              <a:t>FA/F</a:t>
            </a:r>
            <a:r>
              <a:rPr lang="en-IN" dirty="0"/>
              <a:t>V</a:t>
            </a:r>
            <a:r>
              <a:rPr dirty="0"/>
              <a:t>RA/R</a:t>
            </a:r>
            <a:r>
              <a:rPr lang="en-IN" dirty="0"/>
              <a:t>V</a:t>
            </a:r>
            <a:r>
              <a:rPr dirty="0"/>
              <a:t>FA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06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80% training / 20%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Loss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Binary Cross-Entropy with Logits (BCE)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11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Cosine Annealing (T_max = 20 epochs)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Best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114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Saved by best validation F1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Differential Learning Rates (Key Strategy)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•  Pretrained encoders &amp; fusion: lr = 1e-5 (preserves SSL knowledge)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69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•  New classifier head: lr = 1e-4 (learns decision boundary quickly)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RESULTS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SSL Pretraining Convergence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Loss Component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Initial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Final (15 ep.)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Loss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3.60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Contrastive Loss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4.50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Sync Loss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Audio Recon Loss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Visual Recon Loss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Fine-Tuning Performance (FakeAVCeleb)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286000" cy="1234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1328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FF"/>
                </a:solidFill>
                <a:latin typeface="Segoe UI"/>
              </a:defRPr>
            </a:pPr>
            <a:r>
              <a:rPr dirty="0"/>
              <a:t>8</a:t>
            </a:r>
            <a:r>
              <a:rPr lang="en-IN" dirty="0"/>
              <a:t>1</a:t>
            </a:r>
            <a:r>
              <a:rPr dirty="0"/>
              <a:t>.</a:t>
            </a:r>
            <a:r>
              <a:rPr lang="en-IN" dirty="0"/>
              <a:t>95</a:t>
            </a:r>
            <a:r>
              <a:rPr dirty="0"/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46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286000" cy="1234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211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  <a:latin typeface="Segoe UI"/>
              </a:defRPr>
            </a:pPr>
            <a:r>
              <a:t>86.42%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646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2286000" cy="1234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57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F43"/>
                </a:solidFill>
                <a:latin typeface="Segoe UI"/>
              </a:defRPr>
            </a:pPr>
            <a:r>
              <a:t>75.6%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09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474720"/>
            <a:ext cx="2286000" cy="1234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357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80.1%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109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Key 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All SSL loss components converged steadily — model learned meaningful cross-modal representations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1558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•  High precision (86.42%) means low false accusation rate — critical for real-world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1447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Precision &gt; Recall gap indicates conservative model; threshold tuning can adjust this 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4739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Multimodal approach outperforms visual-only methods by capturing audio-visual inconsistencies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85599"/>
              </p:ext>
            </p:extLst>
          </p:nvPr>
        </p:nvGraphicFramePr>
        <p:xfrm>
          <a:off x="731520" y="1188720"/>
          <a:ext cx="106984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Python 3.8+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All scripts, model definitions, training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DL Framework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PyTorch</a:t>
                      </a:r>
                      <a:r>
                        <a:rPr dirty="0"/>
                        <a:t> 2.0+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Neural networks, autograd, CUDA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Vision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TorchVision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ViT-B/16 backbone, video I/O, transforms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Audio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TorchAudio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MelSpectrogram, AmplitudeToDB, Resample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TensorBoard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Real-time loss tracking during SSL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Matplotlib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Loss curves, metrics dashboard plots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Progress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tqdm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Progress bars for training loops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Download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gdown, requests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dirty="0" err="1"/>
                        <a:t>FakeAVCeleb</a:t>
                      </a:r>
                      <a:r>
                        <a:rPr lang="en-IN" dirty="0"/>
                        <a:t> (Drive), </a:t>
                      </a:r>
                      <a:r>
                        <a:rPr lang="en-IN" dirty="0" err="1"/>
                        <a:t>VoxCeleb</a:t>
                      </a:r>
                      <a:r>
                        <a:rPr lang="en-IN" dirty="0"/>
                        <a:t> (HTTP)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58741" y="5717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rPr dirty="0"/>
              <a:t>Hardware Requirements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281152"/>
              </p:ext>
            </p:extLst>
          </p:nvPr>
        </p:nvGraphicFramePr>
        <p:xfrm>
          <a:off x="4232601" y="5077392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Minimum</a:t>
                      </a:r>
                    </a:p>
                  </a:txBody>
                  <a:tcPr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FF9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NVIDIA T4 (16 GB)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RTX 3090/4090 (24 GB)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16 GB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32 GB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50 GB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100 GB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DATA PIPELINE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Segoe UI"/>
              </a:defRPr>
            </a:pPr>
            <a:r>
              <a:t>Visual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45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1. Temporal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13512"/>
            <a:ext cx="2834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rPr sz="1200" dirty="0"/>
              <a:t>16 frames uniformly sampled via </a:t>
            </a:r>
            <a:r>
              <a:rPr sz="1200" dirty="0" err="1"/>
              <a:t>linspace</a:t>
            </a:r>
            <a:endParaRPr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48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2. Center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48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80% of min spatial dimension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5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3. Resize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5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224 x 224 pixels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54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4.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5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ImageNet mean &amp; std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Segoe UI"/>
              </a:defRPr>
            </a:pPr>
            <a:r>
              <a:t>Audio Preprocessing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945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1. Resample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45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Convert to 16 kHz mono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2316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2448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2. Mel Spectrogram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448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128 bins, 1024 FFT, 512 hop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2608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951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3. Log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95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AmplitudeToDB (power, 80 dB)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29000"/>
            <a:ext cx="5029200" cy="4114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454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4. Fix 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45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Pad/trim to 94 time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6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rPr dirty="0"/>
              <a:t>Datasets Used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649332"/>
              </p:ext>
            </p:extLst>
          </p:nvPr>
        </p:nvGraphicFramePr>
        <p:xfrm>
          <a:off x="914400" y="4348480"/>
          <a:ext cx="106984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Purpose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VoxCeleb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SSL Pretraining (Phase 1)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 celebrity interview videos (no fakes)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FakeAVCeleb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Fine-Tuning (Phase 2)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Real + Fake videos (R</a:t>
                      </a:r>
                      <a:r>
                        <a:rPr lang="en-IN" dirty="0"/>
                        <a:t>V</a:t>
                      </a:r>
                      <a:r>
                        <a:rPr dirty="0"/>
                        <a:t>RA, F</a:t>
                      </a:r>
                      <a:r>
                        <a:rPr lang="en-IN" dirty="0"/>
                        <a:t>V</a:t>
                      </a:r>
                      <a:r>
                        <a:rPr dirty="0"/>
                        <a:t>FA, F</a:t>
                      </a:r>
                      <a:r>
                        <a:rPr lang="en-IN" dirty="0"/>
                        <a:t>V</a:t>
                      </a:r>
                      <a:r>
                        <a:rPr dirty="0"/>
                        <a:t>RA, R</a:t>
                      </a:r>
                      <a:r>
                        <a:rPr lang="en-IN" dirty="0"/>
                        <a:t>V</a:t>
                      </a:r>
                      <a:r>
                        <a:rPr dirty="0"/>
                        <a:t>FA)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315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SSL Data Augmentation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Video: Horizontal flip (50%), Color jitter (80%), Gaussian blur (10%)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309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Audio: Gain adjust (50%), Time masking (2 blocks x10), Freq masking (2 blocks x15)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rPr dirty="0"/>
              <a:t>Models/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Visual_encoder.py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556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ViT-based video encoder with temporal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482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audio_encoder.py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482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4-layer CNN audio 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40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Fusion_Engine.py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4086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Multimodal Bottleneck Transformer (MBT)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ssl_tasks.py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334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SSL pretraining orchestrator with 3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utils/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visual_preprocessing.py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37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Frame sampling, cropping,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30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audio_preprocessing.py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301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Mel spectrogram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22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augmentations.py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22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Video and audio augmentation strategies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34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dataset/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2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pretrain_datset_download.py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62686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VoxCeleb dataset downloader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19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preprocess_dataset.py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194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Video → tensor offline 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download_finetune_dataset.py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212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FakeAVCeleb dataset downloader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prepare_finetune_dataset.py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5046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Real/fake directory organizer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16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Root Scripts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208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ssl_pretrain.py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2087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Self-supervised pretraining script (Phase 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501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finetune_deepfake.py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0138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Supervised fine-tuning script (Phase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Segoe U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GPU with 16+ GB VRAM required for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VoxCeleb/FakeAVCeleb may not cover all</a:t>
            </a:r>
            <a:br/>
            <a:r>
              <a:t>  deepfake generation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Requires both audio and video; no fallback</a:t>
            </a:r>
            <a:br/>
            <a:r>
              <a:t>  for audio-missing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Batch processing only; not real-time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Not tested against adversarial 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Web application (FastAPI/Flask) for browser-</a:t>
            </a:r>
            <a:br/>
            <a:r>
              <a:t>  based video upload &amp;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Real-time video analysis via quantization,</a:t>
            </a:r>
            <a:br/>
            <a:r>
              <a:t>  distillation, or TensorRT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Additional modalities: optical flow, facial</a:t>
            </a:r>
            <a:br/>
            <a:r>
              <a:t>  landmarks, frequency-domain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Adversarial training for robustness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Cross-dataset generalization testing</a:t>
            </a:r>
            <a:br/>
            <a:r>
              <a:t>  (FaceForensics++, Celeb-DF, DFDC)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Explainability: attention &amp; saliency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•  Model compression for mobile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2654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rPr dirty="0"/>
              <a:t>Multimodal approach is effective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186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Combining audio and visual analysis through the Multimodal Bottleneck Transformer captures cross-modal inconsistencies that single-modality methods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53238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rPr dirty="0"/>
              <a:t>Self-supervised pretraining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24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Pretraining on unlabelled VoxCeleb with contrastive, sync, and masked objectives provides a strong foundation that transfers well to deepfake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69848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53822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rPr dirty="0"/>
              <a:t>Competitive results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303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8</a:t>
            </a:r>
            <a:r>
              <a:rPr lang="en-IN" dirty="0"/>
              <a:t>1</a:t>
            </a:r>
            <a:r>
              <a:rPr dirty="0"/>
              <a:t>.</a:t>
            </a:r>
            <a:r>
              <a:rPr lang="en-IN" dirty="0"/>
              <a:t>95</a:t>
            </a:r>
            <a:r>
              <a:rPr dirty="0"/>
              <a:t>% accuracy, 86.42% precision, 75.6% recall, and 80.1% F1 on </a:t>
            </a:r>
            <a:r>
              <a:rPr dirty="0" err="1"/>
              <a:t>FakeAVCeleb</a:t>
            </a:r>
            <a:r>
              <a:rPr dirty="0"/>
              <a:t>, with high precision minimizing false accusations.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69848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54406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rPr dirty="0"/>
              <a:t>Modular and extensible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8717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Each component (</a:t>
            </a:r>
            <a:r>
              <a:rPr dirty="0" err="1"/>
              <a:t>ViT</a:t>
            </a:r>
            <a:r>
              <a:rPr dirty="0"/>
              <a:t> encoder, CNN encoder, MBT fusion, MLP classifier) can be independently upgraded as better techniques emerge.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54990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rPr dirty="0"/>
              <a:t>Practical and 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420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Mixed-precision training, gradient accumulation, and differential learning rates make the system trainable on consumer GPUs (T4+).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[1] Dosovitskiy et al. (2021) — An Image is Worth 16x16 Words: Transformers for Image Recognition at Scale. ICLR.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[2] Nagrani et al. (2021) — Attention Bottlenecks for Multimodal Fusion. NeurIPS.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[3] He et al. (2020) — Momentum Contrast for Unsupervised Visual Representation Learning. CVPR.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[4] Khalid et al. (2021) — FakeAVCeleb: A Novel Audio-Video Multimodal Deepfake Dataset. NeurIPS.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[5] Nagrani et al. (2017) — VoxCeleb: A Large-Scale Speaker Identification Dataset. Interspeech.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[6] Park et al. (2019) — SpecAugment: A Simple Data Augmentation Method for ASR. Interspeech.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[7] Loshchilov &amp; Hutter (2019) — Decoupled Weight Decay Regularization. ICLR.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914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[8] Micikevicius et al. (2018) — Mixed Precision Training. ICLR.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669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[9] Touvron et al. (2021) — Training Data-Efficient Image Transformers. ICML.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42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[10] Zi et al. (2020) — WildDeepfake: A Challenging Real-World Dataset. ACM MM.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Segoe UI"/>
              </a:defRPr>
            </a:pPr>
            <a:r>
              <a:rPr dirty="0"/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18735" y="3697141"/>
            <a:ext cx="9144000" cy="1233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Sankalp (12311001)  |  Madhur Suman (12311002)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 algn="ctr">
              <a:spcAft>
                <a:spcPts val="640"/>
              </a:spcAft>
              <a:defRPr sz="16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Supervised by: Dr. Md. </a:t>
            </a:r>
            <a:r>
              <a:rPr dirty="0" err="1"/>
              <a:t>Arquam</a:t>
            </a:r>
            <a:endParaRPr dirty="0"/>
          </a:p>
          <a:p>
            <a:pPr algn="ctr">
              <a:spcAft>
                <a:spcPts val="640"/>
              </a:spcAft>
              <a:defRPr sz="16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Indian Institute of Information Technology, Sonepat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1729</Words>
  <Application>Microsoft Office PowerPoint</Application>
  <PresentationFormat>Widescreen</PresentationFormat>
  <Paragraphs>304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Sankalp</cp:lastModifiedBy>
  <cp:revision>6</cp:revision>
  <dcterms:created xsi:type="dcterms:W3CDTF">2013-01-27T09:14:16Z</dcterms:created>
  <dcterms:modified xsi:type="dcterms:W3CDTF">2026-04-14T05:23:53Z</dcterms:modified>
  <cp:category/>
</cp:coreProperties>
</file>